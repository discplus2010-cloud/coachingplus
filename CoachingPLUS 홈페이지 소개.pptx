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14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FC8628-9019-0156-484A-25CFA95807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CA9B883-FCFA-9A56-312D-E1117412AF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A51649-ABAD-10DD-AC62-A87A947FA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B1A7-D8C8-43EB-AA6D-43F0D33919A2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8DB46D-AE68-439C-058C-E1F0F6578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25DB72-C562-06FD-0AB8-D4B9610E7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27B4F-4EB0-4642-8900-B5F2F8157D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099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817E4D-1EF2-D4D6-E0D3-3F310B469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16E6AE-B1AE-03EC-7492-559086140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C77951-45D7-14EF-5C97-2E70B24DE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B1A7-D8C8-43EB-AA6D-43F0D33919A2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C1AFA3-FDEA-97DD-36E7-C1B44C8A3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08EBB4-AEF6-329C-0217-26BA6F7B4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27B4F-4EB0-4642-8900-B5F2F8157D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480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E33380-D63B-A282-1E3A-12D873030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FE5026-B20A-638F-8B3F-B680F0035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1088F0-A750-8DB7-AF7B-C2A8A66BE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B1A7-D8C8-43EB-AA6D-43F0D33919A2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C207AA-6542-055E-4440-7FF0512AA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81D280-C4A6-9C9E-E01B-E275BAC2C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27B4F-4EB0-4642-8900-B5F2F8157D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259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93923C-2F13-944E-1CBB-FD4CA985D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99FCCD-2FE0-60E6-4FCB-1140CBB22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710042-1F07-7272-652B-1CA6B4ADE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9F5F90-523C-0C8E-12E0-DE22F70F8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B1A7-D8C8-43EB-AA6D-43F0D33919A2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AF2BD9-E324-17F5-6745-C3C20140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40DF90-6470-35B0-C142-4F9F9FD7C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27B4F-4EB0-4642-8900-B5F2F8157D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126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466B2-C852-46A7-1158-33002C1AD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C52847-7A6A-382C-63AD-B2EC95759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BA5754-D9D5-84E3-7490-C730AC7CE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51554D1-BE39-BEBB-0E8C-A538176F3B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EADAC63-DE68-F2FC-85CE-CE3E454101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F8511B3-961E-BAA8-EB60-A30D84862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B1A7-D8C8-43EB-AA6D-43F0D33919A2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4BE432F-49B3-AA54-82BF-F90B2A323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AECE5B-0582-A42B-D5D0-BA7769A89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27B4F-4EB0-4642-8900-B5F2F8157D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9916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99E790-7C4C-26E8-C080-CDA1F12E4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1785C3-1D15-CE3E-511D-318A14EF7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B1A7-D8C8-43EB-AA6D-43F0D33919A2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15C937-5C7B-4327-7BA4-AABE39642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9F97F5-48D0-73F0-6511-930598D43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27B4F-4EB0-4642-8900-B5F2F8157D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462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00B6EA9-EE93-C1C9-4F94-4ACA92AD2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B1A7-D8C8-43EB-AA6D-43F0D33919A2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971CBD-0CFF-1481-0000-65431FCAC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395546-5519-4EDF-BDEB-877669E92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27B4F-4EB0-4642-8900-B5F2F8157D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707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7342E2-BFAF-34A0-A107-5B5CB2A51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CE10CC-25B0-E316-B0FE-697C1CD85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0DDAF0-A8A3-83C2-8A8C-C418ECB49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3BD9F5-10A7-8DB9-C728-D647736A1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B1A7-D8C8-43EB-AA6D-43F0D33919A2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5E943F-7E37-6D0E-7D65-443806851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744703-CEB4-74C9-1FE2-9021BF0AD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27B4F-4EB0-4642-8900-B5F2F8157D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874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002ADE-E55C-2D03-7F9D-596DC545F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605EF9-F387-1684-A569-E2F5460772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B757B8-28BA-075C-1456-165C902C4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3BFFCA-A00D-9ADD-8710-1665B54BA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B1A7-D8C8-43EB-AA6D-43F0D33919A2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438192-6C86-96F0-F38B-BDB14483B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97B0DD-73D3-556E-875B-8DEA03B8F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27B4F-4EB0-4642-8900-B5F2F8157D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3973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73A103-E4EC-3E03-5DEB-963162428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3D5F47-B0B3-48EF-79AD-276CFA2A3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A04E0-7C8E-D83D-74EC-234464F4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B1A7-D8C8-43EB-AA6D-43F0D33919A2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B6616C-2B89-FEE4-BB05-FDEE7D16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8E8138-14F3-ADC1-8818-1C29B5B4D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27B4F-4EB0-4642-8900-B5F2F8157D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817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4AB167D-BF94-A976-BDED-5C6AB36A5E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EE7F9C-DF5A-26FB-3268-0D19F9707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59BF99-A807-BBDA-9F53-D27675132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B1A7-D8C8-43EB-AA6D-43F0D33919A2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5028E1-57FD-7DDD-0667-AECA09401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BDEACB-C430-7DD9-6B37-B8A7E7EE1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27B4F-4EB0-4642-8900-B5F2F8157D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4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239349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kumimoji="1" lang="ko-KR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381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333DBA0-DB56-E492-5305-D1CF39297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2A788D-D755-E40B-8A84-3DF60F5EC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FE07A4-EC70-667B-6FE5-1AAFEAAF74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9B1A7-D8C8-43EB-AA6D-43F0D33919A2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438EBC-0771-88D4-3FB9-C73F8F5518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A0132D-8187-5457-EB2C-E33A62399B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27B4F-4EB0-4642-8900-B5F2F8157D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633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EC0321-DA4F-47F0-95EF-1F37E90CFE1A}"/>
              </a:ext>
            </a:extLst>
          </p:cNvPr>
          <p:cNvSpPr txBox="1"/>
          <p:nvPr/>
        </p:nvSpPr>
        <p:spPr>
          <a:xfrm>
            <a:off x="2531604" y="153796"/>
            <a:ext cx="7596844" cy="665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200" b="1" kern="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CoachingPLUS</a:t>
            </a:r>
            <a:r>
              <a:rPr lang="en-US" altLang="ko-KR" sz="12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ko-KR" altLang="en-US" sz="1100" kern="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개인과 조직</a:t>
            </a:r>
            <a:r>
              <a:rPr lang="en-US" altLang="ko-KR" sz="1100" kern="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kern="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리더와 구성원의 </a:t>
            </a:r>
            <a:r>
              <a:rPr lang="ko-KR" altLang="en-US" sz="1100" kern="0" dirty="0" err="1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전생애</a:t>
            </a:r>
            <a:r>
              <a:rPr lang="ko-KR" altLang="en-US" sz="1100" kern="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발달을 촉진하는 근거기반의 교육</a:t>
            </a:r>
            <a:r>
              <a:rPr lang="en-US" altLang="ko-KR" sz="1100" kern="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kern="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트레이닝</a:t>
            </a:r>
            <a:r>
              <a:rPr lang="en-US" altLang="ko-KR" sz="1100" kern="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kern="0" dirty="0" err="1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코칭의</a:t>
            </a:r>
            <a:r>
              <a:rPr lang="ko-KR" altLang="en-US" sz="1100" kern="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파트너</a:t>
            </a:r>
            <a:endParaRPr lang="en-US" altLang="ko-KR" sz="900" b="1" kern="0" dirty="0">
              <a:solidFill>
                <a:schemeClr val="bg1">
                  <a:lumMod val="65000"/>
                </a:schemeClr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ko-KR" altLang="en-US" sz="1000" kern="0" dirty="0">
                <a:solidFill>
                  <a:srgbClr val="80008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관점 </a:t>
            </a:r>
            <a:r>
              <a:rPr lang="en-US" altLang="ko-KR" sz="1000" kern="0" dirty="0">
                <a:solidFill>
                  <a:srgbClr val="80008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perspectives</a:t>
            </a:r>
            <a:endParaRPr lang="en-US" altLang="ko-KR" sz="1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ko-KR" altLang="en-US" sz="1000" kern="0" dirty="0">
                <a:solidFill>
                  <a:srgbClr val="80008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프로세스 </a:t>
            </a:r>
            <a:r>
              <a:rPr lang="en-US" altLang="ko-KR" sz="1000" kern="0" dirty="0">
                <a:solidFill>
                  <a:srgbClr val="80008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process &amp; </a:t>
            </a:r>
            <a:r>
              <a:rPr lang="ko-KR" altLang="en-US" sz="10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</a:t>
            </a:r>
            <a:r>
              <a:rPr lang="en-US" altLang="ko-KR" sz="10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vs </a:t>
            </a:r>
            <a:r>
              <a:rPr lang="ko-KR" altLang="en-US" sz="10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</a:t>
            </a:r>
            <a:endParaRPr lang="en-US" altLang="ko-KR" sz="1000" kern="0" dirty="0">
              <a:solidFill>
                <a:schemeClr val="tx1">
                  <a:lumMod val="50000"/>
                  <a:lumOff val="50000"/>
                </a:schemeClr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ko-KR" altLang="en-US" sz="1000" kern="0" dirty="0">
                <a:solidFill>
                  <a:srgbClr val="80008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개념 </a:t>
            </a:r>
            <a:r>
              <a:rPr lang="en-US" altLang="ko-KR" sz="1000" kern="0" dirty="0">
                <a:solidFill>
                  <a:srgbClr val="80008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concept &amp; </a:t>
            </a:r>
            <a:r>
              <a:rPr lang="ko-KR" altLang="en-US" sz="1000" kern="0" dirty="0">
                <a:solidFill>
                  <a:srgbClr val="80008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이론 </a:t>
            </a:r>
            <a:r>
              <a:rPr lang="en-US" altLang="ko-KR" sz="1000" kern="0" dirty="0">
                <a:solidFill>
                  <a:srgbClr val="80008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theory</a:t>
            </a:r>
            <a:endParaRPr lang="en-US" altLang="ko-KR" sz="1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ko-KR" altLang="en-US" sz="1000" kern="0" dirty="0">
                <a:solidFill>
                  <a:srgbClr val="80008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개입 </a:t>
            </a:r>
            <a:r>
              <a:rPr lang="en-US" altLang="ko-KR" sz="1000" kern="0" dirty="0">
                <a:solidFill>
                  <a:srgbClr val="80008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intervention</a:t>
            </a:r>
          </a:p>
          <a:p>
            <a:pPr algn="just" fontAlgn="base">
              <a:lnSpc>
                <a:spcPct val="160000"/>
              </a:lnSpc>
            </a:pPr>
            <a:endParaRPr lang="en-US" altLang="ko-KR" sz="1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I.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인간에 대한 체계적 이해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kern="0" dirty="0">
                <a:solidFill>
                  <a:srgbClr val="2A9818"/>
                </a:solidFill>
                <a:latin typeface="+mn-ea"/>
              </a:rPr>
              <a:t>관점에서 개입으로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tool </a:t>
            </a:r>
            <a:r>
              <a:rPr lang="en-US" altLang="ko-KR" sz="1050" kern="0" dirty="0">
                <a:solidFill>
                  <a:srgbClr val="000000"/>
                </a:solidFill>
                <a:latin typeface="+mn-ea"/>
              </a:rPr>
              <a:t>&amp;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skill</a:t>
            </a:r>
            <a:endParaRPr lang="en-US" altLang="ko-KR" sz="1000" kern="0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en-US" altLang="ko-KR" sz="1000" kern="0" dirty="0" err="1">
                <a:solidFill>
                  <a:srgbClr val="0000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DISCplus</a:t>
            </a:r>
            <a:r>
              <a:rPr lang="en-US" altLang="ko-KR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ko-KR" altLang="en-US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관점</a:t>
            </a:r>
            <a:r>
              <a:rPr lang="en-US" altLang="ko-KR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kern="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뇌과학</a:t>
            </a:r>
            <a:r>
              <a:rPr lang="en-US" altLang="ko-KR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negative bias, </a:t>
            </a:r>
            <a:r>
              <a:rPr lang="ko-KR" altLang="en-US" sz="1000" kern="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성격</a:t>
            </a:r>
            <a:r>
              <a:rPr lang="en-US" altLang="ko-KR" sz="1000" kern="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kern="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유형</a:t>
            </a:r>
            <a:r>
              <a:rPr lang="en-US" altLang="ko-KR" sz="1000" kern="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en-US" altLang="ko-KR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episodic &amp; semantic learning</a:t>
            </a:r>
            <a:endParaRPr lang="en-US" altLang="ko-KR" sz="1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	</a:t>
            </a:r>
            <a:r>
              <a:rPr lang="ko-KR" altLang="en-US" sz="1000" kern="0" dirty="0">
                <a:solidFill>
                  <a:srgbClr val="0000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관찰 </a:t>
            </a:r>
            <a:r>
              <a:rPr lang="en-US" altLang="ko-KR" sz="1000" kern="0" dirty="0">
                <a:solidFill>
                  <a:srgbClr val="0000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&amp; </a:t>
            </a:r>
            <a:r>
              <a:rPr lang="ko-KR" altLang="en-US" sz="1000" kern="0" dirty="0">
                <a:solidFill>
                  <a:srgbClr val="0000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조절</a:t>
            </a:r>
            <a:r>
              <a:rPr lang="en-US" altLang="ko-KR" sz="1000" kern="0" dirty="0">
                <a:solidFill>
                  <a:srgbClr val="0000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kern="0" dirty="0">
                <a:solidFill>
                  <a:srgbClr val="0000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알아차림 </a:t>
            </a:r>
            <a:r>
              <a:rPr lang="en-US" altLang="ko-KR" sz="1000" kern="0" dirty="0">
                <a:solidFill>
                  <a:srgbClr val="0000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&amp; </a:t>
            </a:r>
            <a:r>
              <a:rPr lang="ko-KR" altLang="en-US" sz="1000" kern="0" dirty="0">
                <a:solidFill>
                  <a:srgbClr val="0000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의식적 선택</a:t>
            </a:r>
            <a:r>
              <a:rPr lang="en-US" altLang="ko-KR" sz="1000" kern="0" dirty="0">
                <a:solidFill>
                  <a:srgbClr val="0000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en-US" altLang="ko-KR" sz="1000" kern="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role model &amp; supervision</a:t>
            </a:r>
            <a:endParaRPr lang="en-US" altLang="ko-KR" sz="1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en-US" altLang="ko-KR" sz="1000" kern="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StrengthsPLUS</a:t>
            </a:r>
            <a:r>
              <a:rPr lang="en-US" altLang="ko-KR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		</a:t>
            </a:r>
            <a:r>
              <a:rPr lang="en-US" altLang="ko-KR" sz="1000" kern="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StrengsthFinder</a:t>
            </a:r>
            <a:r>
              <a:rPr lang="en-US" altLang="ko-KR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ko-KR" altLang="en-US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강점</a:t>
            </a:r>
            <a:endParaRPr lang="en-US" altLang="ko-KR" sz="1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		</a:t>
            </a:r>
            <a:r>
              <a:rPr lang="en-US" altLang="ko-KR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Values in Action</a:t>
            </a:r>
            <a:r>
              <a:rPr lang="en-US" altLang="ko-KR" sz="1000" kern="0" dirty="0">
                <a:solidFill>
                  <a:srgbClr val="000000"/>
                </a:solidFill>
                <a:latin typeface="함초롬바탕" panose="02030604000101010101" pitchFamily="18" charset="-127"/>
                <a:ea typeface="나눔고딕" panose="020D0604000000000000" pitchFamily="50" charset="-127"/>
              </a:rPr>
              <a:t> 	</a:t>
            </a:r>
            <a:r>
              <a:rPr lang="ko-KR" altLang="en-US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성품 강점</a:t>
            </a:r>
            <a:endParaRPr lang="en-US" altLang="ko-KR" sz="1000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just" fontAlgn="base">
              <a:lnSpc>
                <a:spcPct val="160000"/>
              </a:lnSpc>
            </a:pPr>
            <a:endParaRPr lang="ko-KR" altLang="en-US" sz="1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II.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개인적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‧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문화적 진화를 촉진하기 위한 대화 모델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: </a:t>
            </a:r>
            <a:r>
              <a:rPr lang="en-US" altLang="ko-KR" sz="1200" kern="0" dirty="0">
                <a:solidFill>
                  <a:srgbClr val="0000FF"/>
                </a:solidFill>
                <a:latin typeface="+mn-ea"/>
              </a:rPr>
              <a:t>N&amp;H process </a:t>
            </a:r>
            <a:r>
              <a:rPr lang="ko-KR" altLang="en-US" sz="1200" kern="0" dirty="0">
                <a:solidFill>
                  <a:srgbClr val="0000FF"/>
                </a:solidFill>
                <a:latin typeface="+mn-ea"/>
              </a:rPr>
              <a:t>대화 </a:t>
            </a:r>
            <a:r>
              <a:rPr lang="en-US" altLang="ko-KR" sz="1200" kern="0" dirty="0">
                <a:solidFill>
                  <a:srgbClr val="0000FF"/>
                </a:solidFill>
                <a:latin typeface="+mn-ea"/>
              </a:rPr>
              <a:t>model(Now</a:t>
            </a:r>
            <a:r>
              <a:rPr lang="ko-KR" altLang="en-US" sz="1200" kern="0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200" kern="0" dirty="0">
                <a:solidFill>
                  <a:srgbClr val="0000FF"/>
                </a:solidFill>
                <a:latin typeface="+mn-ea"/>
              </a:rPr>
              <a:t>and</a:t>
            </a:r>
            <a:r>
              <a:rPr lang="ko-KR" altLang="en-US" sz="1200" kern="0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200" kern="0" dirty="0">
                <a:solidFill>
                  <a:srgbClr val="0000FF"/>
                </a:solidFill>
                <a:latin typeface="+mn-ea"/>
              </a:rPr>
              <a:t>Here</a:t>
            </a:r>
            <a:endParaRPr lang="en-US" altLang="ko-KR" sz="1000" kern="0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en-US" altLang="ko-KR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GROW </a:t>
            </a:r>
            <a:r>
              <a:rPr lang="ko-KR" altLang="en-US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코칭</a:t>
            </a:r>
            <a:r>
              <a:rPr lang="ko-KR" altLang="en-US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			</a:t>
            </a:r>
            <a:r>
              <a:rPr lang="ko-KR" altLang="en-US" sz="1000" kern="0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업무중심의 대화 모델</a:t>
            </a:r>
            <a:endParaRPr lang="ko-KR" altLang="en-US" sz="1000" kern="0" dirty="0">
              <a:solidFill>
                <a:srgbClr val="008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en-US" altLang="ko-KR" sz="1000" kern="0" dirty="0" err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NonViolent</a:t>
            </a:r>
            <a:r>
              <a:rPr lang="en-US" altLang="ko-KR" sz="1000" kern="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Communication</a:t>
            </a:r>
            <a:r>
              <a:rPr lang="en-US" altLang="ko-KR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ko-KR" altLang="en-US" sz="1000" kern="0" dirty="0" err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자칼→기린대화</a:t>
            </a:r>
            <a:r>
              <a:rPr lang="ko-KR" altLang="en-US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	</a:t>
            </a:r>
            <a:r>
              <a:rPr lang="ko-KR" altLang="en-US" sz="1000" kern="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관계중심의 대화 모델</a:t>
            </a:r>
            <a:endParaRPr lang="ko-KR" altLang="en-US" sz="1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en-US" altLang="ko-KR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Motivational Interviewing </a:t>
            </a:r>
            <a:r>
              <a:rPr lang="ko-KR" altLang="en-US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동기면담</a:t>
            </a:r>
            <a:r>
              <a:rPr lang="ko-KR" altLang="en-US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	</a:t>
            </a:r>
            <a:r>
              <a:rPr lang="ko-KR" altLang="en-US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변화촉진을 위한 대화 모델</a:t>
            </a:r>
            <a:endParaRPr lang="en-US" altLang="ko-KR" sz="1000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just" fontAlgn="base">
              <a:lnSpc>
                <a:spcPct val="160000"/>
              </a:lnSpc>
            </a:pPr>
            <a:endParaRPr lang="ko-KR" altLang="en-US" sz="1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III. </a:t>
            </a:r>
            <a:r>
              <a:rPr lang="en-US" altLang="ko-KR" sz="1200" kern="0" dirty="0" err="1">
                <a:solidFill>
                  <a:srgbClr val="000000"/>
                </a:solidFill>
                <a:latin typeface="+mn-ea"/>
              </a:rPr>
              <a:t>LeadershipPLUS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100" kern="0" dirty="0">
                <a:solidFill>
                  <a:srgbClr val="000000"/>
                </a:solidFill>
                <a:latin typeface="+mn-ea"/>
              </a:rPr>
              <a:t>&amp;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조직문화</a:t>
            </a:r>
            <a:endParaRPr lang="ko-KR" altLang="en-US" sz="1000" kern="0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	</a:t>
            </a:r>
            <a:r>
              <a:rPr lang="ko-KR" altLang="en-US" sz="1000" kern="0" dirty="0">
                <a:solidFill>
                  <a:srgbClr val="699B37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리더의 성장과 행복을 통해</a:t>
            </a:r>
            <a:endParaRPr lang="ko-KR" altLang="en-US" sz="1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	</a:t>
            </a:r>
            <a:r>
              <a:rPr lang="ko-KR" altLang="en-US" sz="1000" kern="0" dirty="0">
                <a:solidFill>
                  <a:srgbClr val="699B37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구성원의 성장과 행복을 촉진하기 위한</a:t>
            </a:r>
            <a:endParaRPr lang="ko-KR" altLang="en-US" sz="1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	</a:t>
            </a:r>
            <a:r>
              <a:rPr lang="ko-KR" altLang="en-US" sz="1000" kern="0" dirty="0">
                <a:solidFill>
                  <a:srgbClr val="699B37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리더의 인지</a:t>
            </a:r>
            <a:r>
              <a:rPr lang="en-US" altLang="ko-KR" sz="1000" kern="0" dirty="0">
                <a:solidFill>
                  <a:srgbClr val="699B37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kern="0" dirty="0">
                <a:solidFill>
                  <a:srgbClr val="699B37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정서</a:t>
            </a:r>
            <a:r>
              <a:rPr lang="en-US" altLang="ko-KR" sz="1000" kern="0" dirty="0">
                <a:solidFill>
                  <a:srgbClr val="699B37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kern="0" dirty="0">
                <a:solidFill>
                  <a:srgbClr val="699B37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행동의 패턴</a:t>
            </a:r>
            <a:endParaRPr lang="en-US" altLang="ko-KR" sz="1000" kern="0" dirty="0">
              <a:solidFill>
                <a:srgbClr val="699B37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000" kern="0" dirty="0">
                <a:solidFill>
                  <a:srgbClr val="699B37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  <a:r>
              <a:rPr lang="en-US" altLang="ko-KR" sz="1000" b="1" kern="0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000" b="1" kern="0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 수간호사</a:t>
            </a:r>
            <a:r>
              <a:rPr lang="en-US" altLang="ko-KR" sz="1000" b="1" kern="0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1</a:t>
            </a:r>
            <a:r>
              <a:rPr lang="ko-KR" altLang="en-US" sz="1000" b="1" kern="0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 간호팀장</a:t>
            </a:r>
            <a:endParaRPr lang="ko-KR" altLang="en-US" sz="1000" b="1" kern="0" dirty="0">
              <a:solidFill>
                <a:srgbClr val="008000"/>
              </a:solidFill>
              <a:latin typeface="함초롬바탕" panose="02030604000101010101" pitchFamily="18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en-US" altLang="ko-KR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Strengths Based Leadership	</a:t>
            </a:r>
            <a:r>
              <a:rPr lang="en-US" altLang="ko-KR" sz="1000" kern="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DISCplus</a:t>
            </a:r>
            <a:r>
              <a:rPr lang="en-US" altLang="ko-KR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Gallup, VIA   </a:t>
            </a:r>
            <a:r>
              <a:rPr lang="en-US" altLang="ko-KR" sz="1000" kern="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===&gt; Transformational Leadership</a:t>
            </a:r>
          </a:p>
          <a:p>
            <a:pPr algn="just" fontAlgn="base">
              <a:lnSpc>
                <a:spcPct val="160000"/>
              </a:lnSpc>
            </a:pPr>
            <a:r>
              <a:rPr lang="en-US" altLang="ko-KR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  <a:r>
              <a:rPr lang="en-US" altLang="ko-KR" sz="1000" kern="0" dirty="0">
                <a:solidFill>
                  <a:srgbClr val="0000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Three Plateaus of Adult Mental Development </a:t>
            </a:r>
            <a:r>
              <a:rPr lang="en-US" altLang="ko-KR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  <a:r>
              <a:rPr lang="en-US" altLang="ko-KR" sz="1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-윤고딕330" pitchFamily="18" charset="-127"/>
                <a:ea typeface="-윤고딕330" pitchFamily="18" charset="-127"/>
                <a:cs typeface="Arial"/>
              </a:rPr>
              <a:t> </a:t>
            </a:r>
            <a:r>
              <a:rPr lang="en-US" altLang="ko-KR" sz="1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cs typeface="Arial"/>
              </a:rPr>
              <a:t>Robert </a:t>
            </a:r>
            <a:r>
              <a:rPr lang="en-US" altLang="ko-KR" sz="10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cs typeface="Arial"/>
              </a:rPr>
              <a:t>Kegan</a:t>
            </a:r>
            <a:r>
              <a:rPr lang="en-US" altLang="ko-KR" sz="1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cs typeface="Arial"/>
              </a:rPr>
              <a:t> &amp; Lisa </a:t>
            </a:r>
            <a:r>
              <a:rPr lang="en-US" altLang="ko-KR" sz="100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cs typeface="Arial"/>
              </a:rPr>
              <a:t>Laskow</a:t>
            </a:r>
            <a:r>
              <a:rPr lang="en-US" altLang="ko-KR" sz="1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cs typeface="Arial"/>
              </a:rPr>
              <a:t> </a:t>
            </a:r>
            <a:r>
              <a:rPr lang="en-US" altLang="ko-KR" sz="10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cs typeface="Arial"/>
              </a:rPr>
              <a:t>Lahey</a:t>
            </a:r>
            <a:r>
              <a:rPr lang="en-US" altLang="ko-KR" sz="10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cs typeface="Arial"/>
              </a:rPr>
              <a:t> (2009)</a:t>
            </a:r>
            <a:endParaRPr lang="en-US" altLang="ko-KR" sz="1000" kern="0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en-US" altLang="ko-KR" sz="1000" kern="0" dirty="0">
                <a:solidFill>
                  <a:srgbClr val="0000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Positive Leadership model </a:t>
            </a:r>
            <a:r>
              <a:rPr lang="ko-KR" altLang="en-US" sz="1000" kern="0" dirty="0">
                <a:solidFill>
                  <a:srgbClr val="0000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긍정에너지 경영</a:t>
            </a:r>
            <a:r>
              <a:rPr lang="ko-KR" altLang="en-US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en-US" altLang="ko-KR" sz="1000" kern="0" dirty="0">
                <a:solidFill>
                  <a:srgbClr val="000000"/>
                </a:solidFill>
                <a:latin typeface="+mn-ea"/>
              </a:rPr>
              <a:t>Kim </a:t>
            </a:r>
            <a:r>
              <a:rPr lang="en-US" altLang="ko-KR" sz="1000" b="1" kern="0" dirty="0">
                <a:solidFill>
                  <a:srgbClr val="000000"/>
                </a:solidFill>
                <a:latin typeface="+mn-ea"/>
              </a:rPr>
              <a:t>Cameron</a:t>
            </a:r>
          </a:p>
          <a:p>
            <a:pPr algn="just" fontAlgn="base">
              <a:lnSpc>
                <a:spcPct val="160000"/>
              </a:lnSpc>
            </a:pPr>
            <a:r>
              <a:rPr lang="en-US" altLang="ko-KR" sz="1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	</a:t>
            </a:r>
            <a:r>
              <a:rPr lang="en-US" altLang="ko-KR" sz="1000" kern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cf. </a:t>
            </a:r>
            <a:r>
              <a:rPr lang="ko-KR" altLang="en-US" sz="1000" kern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리더십 입문 </a:t>
            </a:r>
            <a:r>
              <a:rPr lang="en-US" altLang="ko-KR" sz="1000" kern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 sz="1000" kern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장  건설적 환경 조성하기</a:t>
            </a:r>
            <a:r>
              <a:rPr lang="ko-KR" altLang="en-US" sz="1000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kern="0" dirty="0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Establishing a Constructive Climate</a:t>
            </a:r>
            <a:endParaRPr lang="en-US" altLang="ko-KR" sz="1000" kern="0" dirty="0">
              <a:solidFill>
                <a:schemeClr val="bg1">
                  <a:lumMod val="75000"/>
                </a:schemeClr>
              </a:solidFill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6111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239</Words>
  <Application>Microsoft Office PowerPoint</Application>
  <PresentationFormat>와이드스크린</PresentationFormat>
  <Paragraphs>26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나눔고딕</vt:lpstr>
      <vt:lpstr>맑은 고딕</vt:lpstr>
      <vt:lpstr>-윤고딕330</vt:lpstr>
      <vt:lpstr>함초롬바탕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Iljin Jung</dc:creator>
  <cp:lastModifiedBy>해현 정</cp:lastModifiedBy>
  <cp:revision>2</cp:revision>
  <dcterms:created xsi:type="dcterms:W3CDTF">2026-02-04T13:49:46Z</dcterms:created>
  <dcterms:modified xsi:type="dcterms:W3CDTF">2026-02-04T13:56:04Z</dcterms:modified>
</cp:coreProperties>
</file>